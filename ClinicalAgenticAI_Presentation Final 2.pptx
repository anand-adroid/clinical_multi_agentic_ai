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13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Murugan" userId="75d2d296b5606997" providerId="LiveId" clId="{196E3F54-6110-44ED-B7D5-796404C2151C}"/>
    <pc:docChg chg="modSld">
      <pc:chgData name="Anand Murugan" userId="75d2d296b5606997" providerId="LiveId" clId="{196E3F54-6110-44ED-B7D5-796404C2151C}" dt="2026-05-15T13:35:16.985" v="0" actId="6549"/>
      <pc:docMkLst>
        <pc:docMk/>
      </pc:docMkLst>
      <pc:sldChg chg="modSp mod">
        <pc:chgData name="Anand Murugan" userId="75d2d296b5606997" providerId="LiveId" clId="{196E3F54-6110-44ED-B7D5-796404C2151C}" dt="2026-05-15T13:35:16.985" v="0" actId="6549"/>
        <pc:sldMkLst>
          <pc:docMk/>
          <pc:sldMk cId="0" sldId="256"/>
        </pc:sldMkLst>
        <pc:spChg chg="mod">
          <ac:chgData name="Anand Murugan" userId="75d2d296b5606997" providerId="LiveId" clId="{196E3F54-6110-44ED-B7D5-796404C2151C}" dt="2026-05-15T13:35:16.985" v="0" actId="6549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881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Agentic AI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371600" y="2176272"/>
            <a:ext cx="6400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232257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 for Clinical Data Derivation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CSV + Derivation Spec  →  Analysis-Ready Table + Audit Trail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3931920"/>
            <a:ext cx="4572000" cy="822960"/>
          </a:xfrm>
          <a:prstGeom prst="rect">
            <a:avLst/>
          </a:prstGeom>
          <a:solidFill>
            <a:srgbClr val="162050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286000" y="39319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Murugan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1512"/>
            <a:ext cx="292608" cy="4660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1512"/>
            <a:ext cx="292608" cy="46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" y="749808"/>
            <a:ext cx="3685032" cy="3943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21208" y="1144181"/>
            <a:ext cx="3685032" cy="32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pressures driving the need for systematic clinical data derivation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" y="1538554"/>
            <a:ext cx="292608" cy="4660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82880" y="1538554"/>
            <a:ext cx="292608" cy="46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" y="1466850"/>
            <a:ext cx="3685032" cy="3943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monolithic LLM call for this 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" y="1861223"/>
            <a:ext cx="3685032" cy="32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 modes of a naive approach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2255596"/>
            <a:ext cx="292608" cy="4660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82880" y="2255596"/>
            <a:ext cx="292608" cy="46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" y="2183892"/>
            <a:ext cx="3685032" cy="3943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Principle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" y="2578265"/>
            <a:ext cx="3685032" cy="32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Constraining LLM autonomy for reliability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2880" y="2972638"/>
            <a:ext cx="292608" cy="4660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82880" y="2972638"/>
            <a:ext cx="292608" cy="46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689680"/>
            <a:ext cx="292608" cy="4660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82880" y="3689680"/>
            <a:ext cx="292608" cy="46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4068" y="2829230"/>
            <a:ext cx="3685032" cy="3943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4068" y="3224669"/>
            <a:ext cx="3685032" cy="32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topology, memory, and flow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26280" y="877680"/>
            <a:ext cx="292608" cy="4660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17136" y="863521"/>
            <a:ext cx="292608" cy="46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26280" y="1513068"/>
            <a:ext cx="292608" cy="4660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26280" y="1513068"/>
            <a:ext cx="292608" cy="46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87468" y="751665"/>
            <a:ext cx="3685032" cy="3943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Reusability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87468" y="1146038"/>
            <a:ext cx="3685032" cy="32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state + long-term pattern memory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26280" y="2165750"/>
            <a:ext cx="292608" cy="4660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17136" y="2157506"/>
            <a:ext cx="292608" cy="46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608" y="1345161"/>
            <a:ext cx="3685032" cy="3943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64608" y="1739534"/>
            <a:ext cx="3685032" cy="32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inference and intervention is auditable</a:t>
            </a:r>
          </a:p>
        </p:txBody>
      </p:sp>
      <p:sp>
        <p:nvSpPr>
          <p:cNvPr id="36" name="Shape 34"/>
          <p:cNvSpPr/>
          <p:nvPr/>
        </p:nvSpPr>
        <p:spPr>
          <a:xfrm>
            <a:off x="4526280" y="2850607"/>
            <a:ext cx="292608" cy="4660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03420" y="2872542"/>
            <a:ext cx="292608" cy="394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0" y="1990499"/>
            <a:ext cx="3685032" cy="3943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Resilience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37760" y="2384872"/>
            <a:ext cx="3685032" cy="32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→ GPT-4o failover + circuit breaker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26280" y="3507856"/>
            <a:ext cx="292608" cy="4660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26280" y="3493939"/>
            <a:ext cx="292608" cy="46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2675356"/>
            <a:ext cx="3685032" cy="3943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37760" y="3069729"/>
            <a:ext cx="3685032" cy="32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trade-offs explained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87468" y="3476125"/>
            <a:ext cx="3685032" cy="3943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Nest Steps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914900" y="3726978"/>
            <a:ext cx="3685032" cy="32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for production</a:t>
            </a:r>
            <a:endParaRPr lang="en-US" sz="850" dirty="0"/>
          </a:p>
        </p:txBody>
      </p:sp>
      <p:sp>
        <p:nvSpPr>
          <p:cNvPr id="48" name="Text 24"/>
          <p:cNvSpPr/>
          <p:nvPr/>
        </p:nvSpPr>
        <p:spPr>
          <a:xfrm>
            <a:off x="544068" y="3546272"/>
            <a:ext cx="3685032" cy="39437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50" b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Gates</a:t>
            </a:r>
            <a:endParaRPr lang="en-US" sz="1050" dirty="0"/>
          </a:p>
        </p:txBody>
      </p:sp>
      <p:sp>
        <p:nvSpPr>
          <p:cNvPr id="49" name="Text 25"/>
          <p:cNvSpPr/>
          <p:nvPr/>
        </p:nvSpPr>
        <p:spPr>
          <a:xfrm>
            <a:off x="544068" y="3940645"/>
            <a:ext cx="3685032" cy="322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review · Code approval · Refiner escalation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" y="658368"/>
            <a:ext cx="2834640" cy="44851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7160" y="777240"/>
            <a:ext cx="2651760" cy="4137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5E4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derivation is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C5E4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manual, error-prone,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C5E4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impossible to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C5E4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at scale.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5E4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C5E4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need a system that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C5E4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fast, correct,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C5E4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trustworthy, and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C5E4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human-supervised.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17520" y="731520"/>
            <a:ext cx="5961888" cy="102984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017520" y="731520"/>
            <a:ext cx="59436" cy="1029843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145536" y="786384"/>
            <a:ext cx="5779008" cy="43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5536" y="1205248"/>
            <a:ext cx="5779008" cy="53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specs run into hundreds of variables. Manual scripting is unsustainable at clinical trial scale.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1834515"/>
            <a:ext cx="5961888" cy="102984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017520" y="1834515"/>
            <a:ext cx="59436" cy="1029843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45536" y="1889379"/>
            <a:ext cx="5779008" cy="43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45536" y="2308243"/>
            <a:ext cx="5779008" cy="53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submissions require zero-tolerance for derivation errors across every variable in every dataset.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937510"/>
            <a:ext cx="5961888" cy="102984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017520" y="2937510"/>
            <a:ext cx="59436" cy="1029843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145536" y="2992374"/>
            <a:ext cx="5779008" cy="43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45536" y="3411238"/>
            <a:ext cx="5779008" cy="53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transformation must be traceable back to the source rule with a verifiable, regulator-readable evidence chain.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4040505"/>
            <a:ext cx="5961888" cy="102984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017520" y="4040505"/>
            <a:ext cx="59436" cy="10298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145536" y="4095369"/>
            <a:ext cx="5779008" cy="43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Oversight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45536" y="4514233"/>
            <a:ext cx="5779008" cy="535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scientists need structured checkpoints to review, correct, and approve at critical pipeline junctures.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monolithic LLM call for this?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768096"/>
            <a:ext cx="2865120" cy="36621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768096"/>
            <a:ext cx="286512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92608" y="859536"/>
            <a:ext cx="268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92608" y="1371600"/>
            <a:ext cx="2663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Without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883664"/>
            <a:ext cx="2663952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generates plausible-looking code or derivation logic that is subtly wrong. Without a static validator, test runner, and verifier in the loop, the error propagates silently into the output dataset — undetected until downstream review.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39440" y="768096"/>
            <a:ext cx="2865120" cy="36621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39440" y="768096"/>
            <a:ext cx="28651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49168" y="859536"/>
            <a:ext cx="268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49168" y="1371600"/>
            <a:ext cx="2663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Audit Trail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9168" y="1883664"/>
            <a:ext cx="2663952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LLM call produces a result but leaves no evidence of how each column was derived. Regulatory submissions require a traceable chain from source data to final variable — a raw LLM response provides absolutely none of this.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96000" y="768096"/>
            <a:ext cx="2865120" cy="36621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96000" y="768096"/>
            <a:ext cx="28651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05728" y="859536"/>
            <a:ext cx="268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05728" y="1371600"/>
            <a:ext cx="2663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Human Checkpoint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05728" y="1883664"/>
            <a:ext cx="2663952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specs are inherently ambiguous. Without a structured gate to surface ambiguities to a domain expert, the LLM makes a silent guess — and may be wrong. There is no structured recovery path when the guess is incorrect.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4521708"/>
            <a:ext cx="8778240" cy="566928"/>
          </a:xfrm>
          <a:prstGeom prst="rect">
            <a:avLst/>
          </a:prstGeom>
          <a:solidFill>
            <a:srgbClr val="C5E4E7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4521708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production clinical tool needs more than a smart model — it needs structure, verification, and human authority.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5E4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Design Principle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277073-ABA6-58FB-E97A-74C2D1E9F161}"/>
              </a:ext>
            </a:extLst>
          </p:cNvPr>
          <p:cNvSpPr txBox="1"/>
          <p:nvPr/>
        </p:nvSpPr>
        <p:spPr>
          <a:xfrm>
            <a:off x="274320" y="751236"/>
            <a:ext cx="8308181" cy="3331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400" b="1" i="0" dirty="0">
                <a:solidFill>
                  <a:srgbClr val="BFBFBF"/>
                </a:solidFill>
                <a:effectLst/>
              </a:rPr>
              <a:t>5 Key Principles:</a:t>
            </a:r>
          </a:p>
          <a:p>
            <a:pPr algn="l">
              <a:buNone/>
            </a:pPr>
            <a:endParaRPr lang="en-IN" sz="1400" b="1" i="0" dirty="0">
              <a:solidFill>
                <a:srgbClr val="BFBFBF"/>
              </a:solidFill>
              <a:effectLst/>
            </a:endParaRP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000" b="1" i="0" dirty="0">
                <a:solidFill>
                  <a:srgbClr val="BFBFBF"/>
                </a:solidFill>
                <a:effectLst/>
              </a:rPr>
              <a:t>Safety First </a:t>
            </a:r>
            <a:r>
              <a:rPr lang="en-IN" sz="1000" dirty="0">
                <a:solidFill>
                  <a:srgbClr val="BFBFBF"/>
                </a:solidFill>
              </a:rPr>
              <a:t>: </a:t>
            </a:r>
            <a:r>
              <a:rPr lang="en-IN" sz="1000" b="0" i="0" dirty="0">
                <a:solidFill>
                  <a:srgbClr val="BFBFBF"/>
                </a:solidFill>
                <a:effectLst/>
              </a:rPr>
              <a:t>Multiple validation gates (input guardrails, spec review, code validation, execution verify) prevent unsafe derivations.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000" b="1" i="0" dirty="0">
                <a:solidFill>
                  <a:srgbClr val="BFBFBF"/>
                </a:solidFill>
                <a:effectLst/>
              </a:rPr>
              <a:t>Transparency &amp; Auditability : </a:t>
            </a:r>
            <a:r>
              <a:rPr lang="en-IN" sz="1000" b="0" i="0" dirty="0">
                <a:solidFill>
                  <a:srgbClr val="BFBFBF"/>
                </a:solidFill>
                <a:effectLst/>
              </a:rPr>
              <a:t>Every step logged with full audit trail. Decision lineage traceable for regulatory review.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000" b="1" i="0" dirty="0">
                <a:solidFill>
                  <a:srgbClr val="BFBFBF"/>
                </a:solidFill>
                <a:effectLst/>
              </a:rPr>
              <a:t>Human-in-the-Loop </a:t>
            </a:r>
            <a:r>
              <a:rPr lang="en-IN" sz="1000" b="1" dirty="0">
                <a:solidFill>
                  <a:srgbClr val="BFBFBF"/>
                </a:solidFill>
              </a:rPr>
              <a:t>: </a:t>
            </a:r>
            <a:r>
              <a:rPr lang="en-IN" sz="1000" b="0" i="0" dirty="0">
                <a:solidFill>
                  <a:srgbClr val="BFBFBF"/>
                </a:solidFill>
                <a:effectLst/>
              </a:rPr>
              <a:t>Critical decisions don't happen in black box—humans always have override/clarification chance via HITL gates.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000" b="1" i="0" dirty="0">
                <a:solidFill>
                  <a:srgbClr val="BFBFBF"/>
                </a:solidFill>
                <a:effectLst/>
              </a:rPr>
              <a:t>Resilience &amp; Recovery : </a:t>
            </a:r>
            <a:r>
              <a:rPr lang="en-IN" sz="1000" b="0" i="0" dirty="0">
                <a:solidFill>
                  <a:srgbClr val="BFBFBF"/>
                </a:solidFill>
                <a:effectLst/>
              </a:rPr>
              <a:t>12-phase orchestrated pipeline with checkpointing. Any validation failure triggers feedback loop—resume from checkpoint instead of restart.</a:t>
            </a:r>
          </a:p>
          <a:p>
            <a:pPr marL="171450" indent="-1714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000" b="1" i="0" dirty="0">
                <a:solidFill>
                  <a:srgbClr val="BFBFBF"/>
                </a:solidFill>
                <a:effectLst/>
              </a:rPr>
              <a:t>Deterministic Orchestration </a:t>
            </a:r>
            <a:r>
              <a:rPr lang="en-IN" sz="1000" b="0" i="0" dirty="0">
                <a:solidFill>
                  <a:srgbClr val="BFBFBF"/>
                </a:solidFill>
                <a:effectLst/>
              </a:rPr>
              <a:t> </a:t>
            </a:r>
            <a:r>
              <a:rPr lang="en-IN" sz="1000" b="0" i="1" dirty="0">
                <a:solidFill>
                  <a:srgbClr val="BFBFBF"/>
                </a:solidFill>
                <a:effectLst/>
              </a:rPr>
              <a:t>(Custom, Not </a:t>
            </a:r>
            <a:r>
              <a:rPr lang="en-IN" sz="1000" b="0" i="1" dirty="0" err="1">
                <a:solidFill>
                  <a:srgbClr val="BFBFBF"/>
                </a:solidFill>
                <a:effectLst/>
              </a:rPr>
              <a:t>LangGraph</a:t>
            </a:r>
            <a:r>
              <a:rPr lang="en-IN" sz="1000" b="0" i="1" dirty="0">
                <a:solidFill>
                  <a:srgbClr val="BFBFBF"/>
                </a:solidFill>
                <a:effectLst/>
              </a:rPr>
              <a:t>) : 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IN" sz="1000" b="1" i="1" dirty="0">
                <a:solidFill>
                  <a:srgbClr val="BFBFBF"/>
                </a:solidFill>
              </a:rPr>
              <a:t>              </a:t>
            </a:r>
            <a:r>
              <a:rPr lang="en-IN" sz="1000" b="1" i="0" dirty="0">
                <a:solidFill>
                  <a:srgbClr val="BFBFBF"/>
                </a:solidFill>
                <a:effectLst/>
              </a:rPr>
              <a:t>Why custom?</a:t>
            </a:r>
            <a:r>
              <a:rPr lang="en-IN" sz="1000" b="0" i="0" dirty="0">
                <a:solidFill>
                  <a:srgbClr val="BFBFBF"/>
                </a:solidFill>
                <a:effectLst/>
              </a:rPr>
              <a:t> Regulated domains demand:</a:t>
            </a:r>
          </a:p>
          <a:p>
            <a:pPr lvl="2" algn="l">
              <a:spcBef>
                <a:spcPts val="300"/>
              </a:spcBef>
              <a:spcAft>
                <a:spcPts val="300"/>
              </a:spcAft>
            </a:pPr>
            <a:r>
              <a:rPr lang="en-IN" sz="1000" b="1" i="0" dirty="0">
                <a:solidFill>
                  <a:srgbClr val="BFBFBF"/>
                </a:solidFill>
                <a:effectLst/>
              </a:rPr>
              <a:t>Single-threaded by default</a:t>
            </a:r>
            <a:r>
              <a:rPr lang="en-IN" sz="1000" b="0" i="0" dirty="0">
                <a:solidFill>
                  <a:srgbClr val="BFBFBF"/>
                </a:solidFill>
                <a:effectLst/>
              </a:rPr>
              <a:t> (not parallel) → reproducible, auditable runs</a:t>
            </a:r>
          </a:p>
          <a:p>
            <a:pPr lvl="2" algn="l">
              <a:spcBef>
                <a:spcPts val="300"/>
              </a:spcBef>
              <a:spcAft>
                <a:spcPts val="300"/>
              </a:spcAft>
            </a:pPr>
            <a:r>
              <a:rPr lang="en-IN" sz="1000" b="1" i="0" dirty="0">
                <a:solidFill>
                  <a:srgbClr val="BFBFBF"/>
                </a:solidFill>
                <a:effectLst/>
              </a:rPr>
              <a:t>Checkpointing as core</a:t>
            </a:r>
            <a:r>
              <a:rPr lang="en-IN" sz="1000" b="0" i="0" dirty="0">
                <a:solidFill>
                  <a:srgbClr val="BFBFBF"/>
                </a:solidFill>
                <a:effectLst/>
              </a:rPr>
              <a:t> (not plugin) → cheap resume from failure</a:t>
            </a:r>
          </a:p>
          <a:p>
            <a:pPr lvl="2" algn="l">
              <a:spcBef>
                <a:spcPts val="300"/>
              </a:spcBef>
              <a:spcAft>
                <a:spcPts val="300"/>
              </a:spcAft>
            </a:pPr>
            <a:r>
              <a:rPr lang="en-IN" sz="1000" b="1" i="0" dirty="0">
                <a:solidFill>
                  <a:srgbClr val="BFBFBF"/>
                </a:solidFill>
                <a:effectLst/>
              </a:rPr>
              <a:t>HITL gates as structural</a:t>
            </a:r>
            <a:r>
              <a:rPr lang="en-IN" sz="1000" b="0" i="0" dirty="0">
                <a:solidFill>
                  <a:srgbClr val="BFBFBF"/>
                </a:solidFill>
                <a:effectLst/>
              </a:rPr>
              <a:t> (not bolted-on) → gates at Preapproval &amp; Verify phases, not arbitrary conditions</a:t>
            </a:r>
          </a:p>
          <a:p>
            <a:pPr lvl="2" algn="l">
              <a:spcBef>
                <a:spcPts val="300"/>
              </a:spcBef>
              <a:spcAft>
                <a:spcPts val="300"/>
              </a:spcAft>
            </a:pPr>
            <a:r>
              <a:rPr lang="en-IN" sz="1000" b="1" i="0" dirty="0">
                <a:solidFill>
                  <a:srgbClr val="BFBFBF"/>
                </a:solidFill>
                <a:effectLst/>
              </a:rPr>
              <a:t>Event-driven lineage</a:t>
            </a:r>
            <a:r>
              <a:rPr lang="en-IN" sz="1000" b="0" i="0" dirty="0">
                <a:solidFill>
                  <a:srgbClr val="BFBFBF"/>
                </a:solidFill>
                <a:effectLst/>
              </a:rPr>
              <a:t> → every decision has full state snapshot for FDA/EMA audit trails</a:t>
            </a: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r>
              <a:rPr lang="en-IN" sz="1000" b="1" i="0" dirty="0">
                <a:solidFill>
                  <a:srgbClr val="BFBFBF"/>
                </a:solidFill>
                <a:effectLst/>
              </a:rPr>
              <a:t>Why not </a:t>
            </a:r>
            <a:r>
              <a:rPr lang="en-IN" sz="1000" b="1" i="0" dirty="0" err="1">
                <a:solidFill>
                  <a:srgbClr val="BFBFBF"/>
                </a:solidFill>
                <a:effectLst/>
              </a:rPr>
              <a:t>LangGraph</a:t>
            </a:r>
            <a:r>
              <a:rPr lang="en-IN" sz="1000" b="1" i="0" dirty="0">
                <a:solidFill>
                  <a:srgbClr val="BFBFBF"/>
                </a:solidFill>
                <a:effectLst/>
              </a:rPr>
              <a:t>?</a:t>
            </a:r>
            <a:r>
              <a:rPr lang="en-IN" sz="1000" b="0" i="0" dirty="0">
                <a:solidFill>
                  <a:srgbClr val="BFBFBF"/>
                </a:solidFill>
                <a:effectLst/>
              </a:rPr>
              <a:t> Optimizes for speed &amp; flexibility, not compliance. No first-class checkpointing, defaults to parallelism, treats HITL as conditional logic instead of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89">
            <a:extLst>
              <a:ext uri="{FF2B5EF4-FFF2-40B4-BE49-F238E27FC236}">
                <a16:creationId xmlns:a16="http://schemas.microsoft.com/office/drawing/2014/main" id="{0DAEB42A-F11E-C3EB-5BBD-4B3F687A7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674" y="742950"/>
            <a:ext cx="4424136" cy="4251674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201168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Block Diagram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 —  Three Gates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5448" y="514064"/>
            <a:ext cx="2883408" cy="43205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55448" y="749808"/>
            <a:ext cx="2883408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46888" y="74980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22376" y="749808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Review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426464"/>
            <a:ext cx="274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46888" y="1627633"/>
            <a:ext cx="274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Spec Reviewer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4028" y="1975105"/>
            <a:ext cx="274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6888" y="2200848"/>
            <a:ext cx="2746248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DAG is built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028" y="2499192"/>
            <a:ext cx="2746248" cy="2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4028" y="2739401"/>
            <a:ext cx="2746248" cy="781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Ambiguities, missing fields, and contradictions in the derivation specification are surfaced as a structured question form.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" y="3236119"/>
            <a:ext cx="2746248" cy="521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7744" y="3405396"/>
            <a:ext cx="2746248" cy="781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confirms, corrects, or rejects the spec. Pipeline proceeds only on approval.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93720" y="512064"/>
            <a:ext cx="2883408" cy="43205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Shape 16"/>
          <p:cNvSpPr/>
          <p:nvPr/>
        </p:nvSpPr>
        <p:spPr>
          <a:xfrm>
            <a:off x="3130296" y="749808"/>
            <a:ext cx="2883408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21736" y="74980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97224" y="749808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Approval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21736" y="1426464"/>
            <a:ext cx="274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21736" y="1627632"/>
            <a:ext cx="2746248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Code Preapproval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21736" y="1993392"/>
            <a:ext cx="274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21736" y="2194560"/>
            <a:ext cx="2746248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code generation, before full execution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21736" y="2471166"/>
            <a:ext cx="274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21736" y="2672334"/>
            <a:ext cx="2746248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derivation code presented for human review alongside the spec. Test-case results shown.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97352" y="3085762"/>
            <a:ext cx="2746248" cy="201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176016" y="3258978"/>
            <a:ext cx="2746248" cy="64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approves code or requests changes. Prevents running untrusted code at full dataset scale.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41720" y="514064"/>
            <a:ext cx="2883408" cy="43205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05144" y="749808"/>
            <a:ext cx="28834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96584" y="74980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G3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672072" y="749808"/>
            <a:ext cx="222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Refiner Escalation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6584" y="1426464"/>
            <a:ext cx="274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96584" y="1627632"/>
            <a:ext cx="2746248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Refiner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96584" y="1901953"/>
            <a:ext cx="274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96584" y="2103122"/>
            <a:ext cx="274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automated retries are exhausted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96679" y="2377442"/>
            <a:ext cx="274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96679" y="2578610"/>
            <a:ext cx="2746248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Refiner cannot resolve a verification failure after N attempts, it escalates with a structured explanation.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0964" y="3040380"/>
            <a:ext cx="2746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90964" y="3241548"/>
            <a:ext cx="2746248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diagnoses root cause: spec error, edge-case data, or logic flaw — and guides resolution.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&amp; Reusability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96596" y="667512"/>
            <a:ext cx="64008" cy="38084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Short-Term Memory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647795"/>
            <a:ext cx="4114800" cy="38084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0" y="647795"/>
            <a:ext cx="64008" cy="38084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0916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Memory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82880" y="4563404"/>
            <a:ext cx="8778240" cy="530352"/>
          </a:xfrm>
          <a:prstGeom prst="rect">
            <a:avLst/>
          </a:prstGeom>
          <a:solidFill>
            <a:srgbClr val="C5E4E7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38912" y="4693706"/>
            <a:ext cx="8641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Short-term memory gives the pipeline immediate context and continuity within a run and Long-term memory gives the pipeline institutional knowledge and learning across runs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4CBF82-5835-30AA-9DCF-E9A96348FFBC}"/>
              </a:ext>
            </a:extLst>
          </p:cNvPr>
          <p:cNvSpPr txBox="1"/>
          <p:nvPr/>
        </p:nvSpPr>
        <p:spPr>
          <a:xfrm>
            <a:off x="384048" y="1395881"/>
            <a:ext cx="3545015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1050" dirty="0">
                <a:solidFill>
                  <a:srgbClr val="028090"/>
                </a:solidFill>
                <a:latin typeface="Georgia" pitchFamily="34" charset="0"/>
              </a:rPr>
              <a:t>Captures the current run’s recent context: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results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plan/code generation state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HITL decisions and clarifications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1050" dirty="0">
                <a:solidFill>
                  <a:srgbClr val="028090"/>
                </a:solidFill>
                <a:latin typeface="Georgia" pitchFamily="34" charset="0"/>
              </a:rPr>
              <a:t>Used to keep the active run coherent: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repeated questions to the agent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recent reasoning and guardrail context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1050" dirty="0">
                <a:solidFill>
                  <a:srgbClr val="028090"/>
                </a:solidFill>
                <a:latin typeface="Georgia" pitchFamily="34" charset="0"/>
              </a:rPr>
              <a:t>Lifetime: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while the run is active / session-scoped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B36520-2C66-3AA7-CE0F-31510EC27291}"/>
              </a:ext>
            </a:extLst>
          </p:cNvPr>
          <p:cNvSpPr txBox="1"/>
          <p:nvPr/>
        </p:nvSpPr>
        <p:spPr>
          <a:xfrm>
            <a:off x="4636008" y="1295853"/>
            <a:ext cx="4579144" cy="2069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reusable knowledge across runs: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run patterns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validation outcomes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user preferences or common fixes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improve future runs: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recovery from similar errors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more consistent guardrail behavior</a:t>
            </a: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auditability of repeated issues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persists across runs and sessions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01168" y="15716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Traceability  —Audit Tables</a:t>
            </a:r>
            <a:endParaRPr lang="en-US" sz="17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53C390-ABF0-2A27-BE87-0D80028A4926}"/>
              </a:ext>
            </a:extLst>
          </p:cNvPr>
          <p:cNvSpPr txBox="1"/>
          <p:nvPr/>
        </p:nvSpPr>
        <p:spPr>
          <a:xfrm>
            <a:off x="201168" y="1236786"/>
            <a:ext cx="4572000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</a:rPr>
              <a:t>   Full run provenance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000" b="0" i="0" dirty="0">
                <a:effectLst/>
              </a:rPr>
              <a:t>every run stores input, spec, decisions, outputs, and final result</a:t>
            </a:r>
          </a:p>
          <a:p>
            <a:pPr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</a:rPr>
              <a:t>Phase-level event logging</a:t>
            </a: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r>
              <a:rPr lang="en-US" sz="1000" b="0" i="0" dirty="0">
                <a:effectLst/>
              </a:rPr>
              <a:t>guardrails, planning, code gen, validation, execution, and audit are all recorded</a:t>
            </a:r>
          </a:p>
          <a:p>
            <a:pPr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</a:rPr>
              <a:t>Checkpointed state snapshots</a:t>
            </a: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r>
              <a:rPr lang="en-US" sz="1000" dirty="0"/>
              <a:t>r</a:t>
            </a:r>
            <a:r>
              <a:rPr lang="en-US" sz="1000" b="0" i="0" dirty="0">
                <a:effectLst/>
              </a:rPr>
              <a:t>ecoverable state at defined pipeline phases ensures exact replay</a:t>
            </a:r>
          </a:p>
          <a:p>
            <a:pPr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</a:rPr>
              <a:t>HITL decision capture</a:t>
            </a: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r>
              <a:rPr lang="en-US" sz="1000" b="0" i="0" dirty="0">
                <a:effectLst/>
              </a:rPr>
              <a:t>human approvals, rejections, and clarifications are stored with the run</a:t>
            </a:r>
          </a:p>
          <a:p>
            <a:pPr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</a:rPr>
              <a:t>Failure feedback loops</a:t>
            </a: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r>
              <a:rPr lang="en-US" sz="1000" b="0" i="0" dirty="0">
                <a:effectLst/>
              </a:rPr>
              <a:t>every error path is traceable back to the phase that triggered HITL or retry</a:t>
            </a:r>
          </a:p>
          <a:p>
            <a:pPr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</a:rPr>
              <a:t>Regulatory-ready output</a:t>
            </a:r>
          </a:p>
          <a:p>
            <a:pPr lvl="1" algn="l">
              <a:spcBef>
                <a:spcPts val="300"/>
              </a:spcBef>
              <a:spcAft>
                <a:spcPts val="300"/>
              </a:spcAft>
            </a:pPr>
            <a:r>
              <a:rPr lang="en-US" sz="1000" b="0" i="0" dirty="0">
                <a:effectLst/>
              </a:rPr>
              <a:t>line items for “who did what, when, and why” across the workflow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2CF15C-3AED-6D56-412F-64195F72BC83}"/>
              </a:ext>
            </a:extLst>
          </p:cNvPr>
          <p:cNvSpPr txBox="1"/>
          <p:nvPr/>
        </p:nvSpPr>
        <p:spPr>
          <a:xfrm>
            <a:off x="128586" y="590876"/>
            <a:ext cx="57864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1" dirty="0">
                <a:effectLst/>
              </a:rPr>
              <a:t>Traceability means every inference and intervention is auditable from input to output</a:t>
            </a:r>
            <a:endParaRPr lang="en-IN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Resilience  —  Failover + Circuit Breaker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47472" y="768096"/>
            <a:ext cx="2423160" cy="1051560"/>
          </a:xfrm>
          <a:prstGeom prst="rect">
            <a:avLst/>
          </a:prstGeom>
          <a:solidFill>
            <a:srgbClr val="E8F8F8"/>
          </a:solidFill>
          <a:ln w="1905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768096"/>
            <a:ext cx="24231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7680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38912" y="1042416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 Claude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07208" y="1293876"/>
            <a:ext cx="310896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98064" y="10469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54680" y="768096"/>
            <a:ext cx="2423160" cy="105156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54680" y="768096"/>
            <a:ext cx="242316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154680" y="7680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46120" y="1042416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GPT-4o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14416" y="1293876"/>
            <a:ext cx="310896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05272" y="10469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fail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61888" y="768096"/>
            <a:ext cx="2423160" cy="1051560"/>
          </a:xfrm>
          <a:prstGeom prst="rect">
            <a:avLst/>
          </a:prstGeom>
          <a:solidFill>
            <a:srgbClr val="F1F5F9"/>
          </a:solidFill>
          <a:ln w="1905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61888" y="768096"/>
            <a:ext cx="2423160" cy="228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61888" y="7680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53328" y="1042416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rule Fallbacks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" y="2011680"/>
            <a:ext cx="877824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2011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Logic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3464" y="2407158"/>
            <a:ext cx="8641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fallback chain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Anthropic first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Anthropic fails on 5xx / overload / network / timeout, automatically retry the same prompt on OpenAI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budget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 gets up to 3 attempts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backoff: 2s → 4s → 8s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wait per provider is about 14 seconds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after 2 consecutive provider failures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open for 60 seconds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open, the pipeline fails fast to deterministic/HITL fallback instead of burning another long LLM call</a:t>
            </a:r>
          </a:p>
          <a:p>
            <a:pPr lvl="1"/>
            <a:endParaRPr lang="en-US" sz="9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availability by failing over quickly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repeated long retries during an outage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regulated runs moving by shifting to deterministic or human-reviewed paths in seconds instead of minutes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371600" y="2834640"/>
            <a:ext cx="640080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CSV + Derivation Spec  →  Analysis-Ready Table + Audit Trail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Decisions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37160" y="749808"/>
            <a:ext cx="4343400" cy="13670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37160" y="749808"/>
            <a:ext cx="59436" cy="13670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56032" y="822960"/>
            <a:ext cx="4178808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Orchestrator over LangGraph / CrewAI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" y="1269279"/>
            <a:ext cx="4178808" cy="847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strict, readable state model where every pipeline transition is explicit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loops, no implicit agent behavior, no black-box state</a:t>
            </a:r>
          </a:p>
          <a:p>
            <a:pPr marL="0" indent="0">
              <a:buNone/>
            </a:pPr>
            <a:endParaRPr lang="en-US" sz="9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can inspect one clear file and see every legal transition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needs a deterministic workflow, not an open-ended graph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the pipeline easier to trace, reproduce, and validate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49808"/>
            <a:ext cx="4343400" cy="13670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59436" cy="13670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82312" y="822960"/>
            <a:ext cx="4178808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"LLM or human, never silent guess"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82312" y="1269279"/>
            <a:ext cx="4178808" cy="82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ambiguity is resolved by the LLM with a stated rationale, or escalated to a human gate. The system never silently picks a default.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7160" y="2226564"/>
            <a:ext cx="4343400" cy="13670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37160" y="2226564"/>
            <a:ext cx="59436" cy="13670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56032" y="2299716"/>
            <a:ext cx="4178808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Per-question HITL forms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" y="2746035"/>
            <a:ext cx="4178808" cy="82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question is a discrete, structured record — queryable, prefillable from LTM, and stored in the audit trail independently.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226564"/>
            <a:ext cx="4343400" cy="13670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2226564"/>
            <a:ext cx="59436" cy="1367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82312" y="2299716"/>
            <a:ext cx="4178808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Test-case gate before full execution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82312" y="2746035"/>
            <a:ext cx="4178808" cy="820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proven on 3 synthetic rows before running on N rows. Bugs caught at the gate cost seconds; bugs at full scale cost hours.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Production-Ready Next Steps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37160" y="749808"/>
            <a:ext cx="4334256" cy="101155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37160" y="749808"/>
            <a:ext cx="50292" cy="1011555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46888" y="804672"/>
            <a:ext cx="4187952" cy="3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Scale-grade audit storage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" y="1134199"/>
            <a:ext cx="4187952" cy="606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SQLite/file-based storage with a cloud-ready transactional database and audit store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1832572"/>
            <a:ext cx="4334256" cy="101155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37160" y="1852803"/>
            <a:ext cx="50292" cy="1011555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6888" y="1907667"/>
            <a:ext cx="4187952" cy="3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 resilience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" y="2237194"/>
            <a:ext cx="4187952" cy="606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circuit breaker state to shared storage (Redis or service mesh) so outages survive process restarts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" y="2955798"/>
            <a:ext cx="4334256" cy="101155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37160" y="2955798"/>
            <a:ext cx="50292" cy="1011555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6888" y="3102274"/>
            <a:ext cx="4187952" cy="3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Stronger LLM recovery</a:t>
            </a:r>
          </a:p>
          <a:p>
            <a:pPr marL="0" indent="0">
              <a:buNone/>
            </a:pPr>
            <a:endParaRPr lang="en-US" sz="1000" b="1" dirty="0">
              <a:solidFill>
                <a:srgbClr val="1E293B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" y="3340189"/>
            <a:ext cx="4187952" cy="606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OpenAI/Anthropic structured output can still fail on malformed JSON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output contracts, retries, and deterministic fallback behavior 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7160" y="4393692"/>
            <a:ext cx="7750397" cy="50966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6034" y="4470330"/>
            <a:ext cx="7675531" cy="606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flaws —  they are the next production hardening steps: scale, isolation, resilience, and enterprise-ready auditability</a:t>
            </a:r>
            <a:endParaRPr lang="en-US" sz="12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72584" y="749808"/>
            <a:ext cx="4334256" cy="101155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72584" y="749808"/>
            <a:ext cx="50292" cy="1011555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82312" y="804672"/>
            <a:ext cx="4187952" cy="3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Multi-tenancy + SSO 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82312" y="1134199"/>
            <a:ext cx="4187952" cy="606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handles login/authentication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: separate users/teams need isolated audit trails, data boundaries, and access controls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requires both secure sign-in and proper tenant isolation 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72584" y="1852803"/>
            <a:ext cx="4334256" cy="101155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72584" y="1852803"/>
            <a:ext cx="50292" cy="1011555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82312" y="1907667"/>
            <a:ext cx="4187952" cy="3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Safer execution policy 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82312" y="2237194"/>
            <a:ext cx="4187952" cy="606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AST whitelist is intentionally conservative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should support richer safe derivation patterns with validated policy updates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72584" y="2955798"/>
            <a:ext cx="4334256" cy="101155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72584" y="2955798"/>
            <a:ext cx="50292" cy="1011555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82312" y="3010662"/>
            <a:ext cx="4187952" cy="3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review UX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82312" y="3340189"/>
            <a:ext cx="4187952" cy="606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currently loads full generated code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pagination/lazy loading for large derivations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1480</Words>
  <Application>Microsoft Office PowerPoint</Application>
  <PresentationFormat>On-screen Show (16:9)</PresentationFormat>
  <Paragraphs>222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Agentic AI — Sanofi AI/ML Lead</dc:title>
  <dc:subject>PptxGenJS Presentation</dc:subject>
  <dc:creator>Manan Anand</dc:creator>
  <cp:lastModifiedBy>meetanandm@gmail.com</cp:lastModifiedBy>
  <cp:revision>2</cp:revision>
  <dcterms:created xsi:type="dcterms:W3CDTF">2026-05-15T04:38:54Z</dcterms:created>
  <dcterms:modified xsi:type="dcterms:W3CDTF">2026-05-15T13:35:19Z</dcterms:modified>
</cp:coreProperties>
</file>